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2F13E64-F739-42FE-BB92-36DB0E5D0C2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E0E690-7EA5-4248-9464-A1A7BB585A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83AFE0-C220-4915-98B9-B5DA34C6EC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034A40-BDEB-4DBE-8275-7DEE91A64F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E3066D-F601-48F8-9E17-C1EFF5A94B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67BE63-9A5F-4A50-BDA5-125C2D395B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353336-05E7-4C41-BE2F-B2675061E3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FFBC6E-4509-4EB4-A896-A326C8F044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36576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73152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0" y="109728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0" y="146304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0" y="182880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0" y="219456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0" y="256032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0" y="292608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0" y="329184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0" y="365760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0" y="438912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0" y="475488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0" y="512064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0" y="548640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0" y="585216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0" y="621792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0" y="658368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0" y="6949440"/>
            <a:ext cx="12191400" cy="360"/>
          </a:xfrm>
          <a:prstGeom prst="line">
            <a:avLst/>
          </a:prstGeom>
          <a:ln w="3175">
            <a:solidFill>
              <a:srgbClr val="23355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" name="Image 0" descr="preencoded.png"/>
          <p:cNvPicPr/>
          <p:nvPr/>
        </p:nvPicPr>
        <p:blipFill>
          <a:blip r:embed="rId1">
            <a:alphaModFix amt="25000"/>
          </a:blip>
          <a:stretch/>
        </p:blipFill>
        <p:spPr>
          <a:xfrm>
            <a:off x="8351280" y="1371600"/>
            <a:ext cx="3657240" cy="3657240"/>
          </a:xfrm>
          <a:prstGeom prst="rect">
            <a:avLst/>
          </a:prstGeom>
          <a:ln w="0">
            <a:noFill/>
          </a:ln>
        </p:spPr>
      </p:pic>
      <p:sp>
        <p:nvSpPr>
          <p:cNvPr id="29" name="Text 20"/>
          <p:cNvSpPr/>
          <p:nvPr/>
        </p:nvSpPr>
        <p:spPr>
          <a:xfrm>
            <a:off x="640080" y="8229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98" strike="noStrike">
                <a:solidFill>
                  <a:srgbClr val="64ffda"/>
                </a:solidFill>
                <a:latin typeface="Consolas"/>
                <a:ea typeface="Consolas"/>
              </a:rPr>
              <a:t>LINFO2347 — COMPUTER SYSTEM SECURITY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640080" y="1325880"/>
            <a:ext cx="639720" cy="45360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640080" y="155448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ccd6f6"/>
                </a:solidFill>
                <a:latin typeface="Calibri"/>
                <a:ea typeface="Calibri"/>
              </a:rPr>
              <a:t>Network Attacks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640080" y="246888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6000" spc="-1" strike="noStrike">
                <a:solidFill>
                  <a:srgbClr val="64ffda"/>
                </a:solidFill>
                <a:latin typeface="Calibri"/>
                <a:ea typeface="Calibri"/>
              </a:rPr>
              <a:t>&amp; Protections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640080" y="3657600"/>
            <a:ext cx="7772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8892b0"/>
                </a:solidFill>
                <a:latin typeface="Calibri"/>
                <a:ea typeface="Calibri"/>
              </a:rPr>
              <a:t>A practical study of five common network attacks and their countermeasures, deployed on a Mininet-based enterprise topology.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792360" y="5486400"/>
            <a:ext cx="2011320" cy="45684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792360" y="54864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4ffda"/>
                </a:solidFill>
                <a:latin typeface="Consolas"/>
                <a:ea typeface="Consolas"/>
              </a:rPr>
              <a:t>ICMP Sweep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2941200" y="5486400"/>
            <a:ext cx="2011320" cy="45684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8"/>
          <p:cNvSpPr/>
          <p:nvPr/>
        </p:nvSpPr>
        <p:spPr>
          <a:xfrm>
            <a:off x="2941200" y="54864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4ffda"/>
                </a:solidFill>
                <a:latin typeface="Consolas"/>
                <a:ea typeface="Consolas"/>
              </a:rPr>
              <a:t>TCP SYN Scan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5090040" y="5486400"/>
            <a:ext cx="2011320" cy="45684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5090040" y="54864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4ffda"/>
                </a:solidFill>
                <a:latin typeface="Consolas"/>
                <a:ea typeface="Consolas"/>
              </a:rPr>
              <a:t>SSH Brute-force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7238880" y="5486400"/>
            <a:ext cx="2011320" cy="45684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32"/>
          <p:cNvSpPr/>
          <p:nvPr/>
        </p:nvSpPr>
        <p:spPr>
          <a:xfrm>
            <a:off x="7238880" y="54864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4ffda"/>
                </a:solidFill>
                <a:latin typeface="Consolas"/>
                <a:ea typeface="Consolas"/>
              </a:rPr>
              <a:t>ARP Poisoning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9387720" y="5486400"/>
            <a:ext cx="2011320" cy="45684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4"/>
          <p:cNvSpPr/>
          <p:nvPr/>
        </p:nvSpPr>
        <p:spPr>
          <a:xfrm>
            <a:off x="9387720" y="54864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4ffda"/>
                </a:solidFill>
                <a:latin typeface="Consolas"/>
                <a:ea typeface="Consolas"/>
              </a:rPr>
              <a:t>DNS Reflected DDoS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5"/>
          <p:cNvSpPr/>
          <p:nvPr/>
        </p:nvSpPr>
        <p:spPr>
          <a:xfrm>
            <a:off x="8534160" y="63093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892b0"/>
                </a:solidFill>
                <a:latin typeface="Calibri"/>
                <a:ea typeface="Calibri"/>
              </a:rPr>
              <a:t>Project Presentation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54864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a192f"/>
                </a:solidFill>
                <a:latin typeface="Calibri"/>
                <a:ea typeface="Calibri"/>
              </a:rPr>
              <a:t>Network Topology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48640" y="9144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8892b0"/>
                </a:solidFill>
                <a:latin typeface="Calibri"/>
                <a:ea typeface="Calibri"/>
              </a:rPr>
              <a:t>Mininet enterprise network with workstation LAN, internet, and DMZ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2778480" y="1344240"/>
            <a:ext cx="6634440" cy="3803400"/>
          </a:xfrm>
          <a:prstGeom prst="rect">
            <a:avLst/>
          </a:prstGeom>
          <a:solidFill>
            <a:srgbClr val="ffffff"/>
          </a:solidFill>
          <a:ln w="9525">
            <a:solidFill>
              <a:srgbClr val="233554"/>
            </a:solidFill>
            <a:round/>
          </a:ln>
          <a:effectLst>
            <a:outerShdw algn="bl" blurRad="12708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Image 0" descr="topo.png"/>
          <p:cNvPicPr/>
          <p:nvPr/>
        </p:nvPicPr>
        <p:blipFill>
          <a:blip r:embed="rId1"/>
          <a:stretch/>
        </p:blipFill>
        <p:spPr>
          <a:xfrm>
            <a:off x="2851560" y="1417320"/>
            <a:ext cx="6487920" cy="3657240"/>
          </a:xfrm>
          <a:prstGeom prst="rect">
            <a:avLst/>
          </a:prstGeom>
          <a:ln w="0">
            <a:noFill/>
          </a:ln>
        </p:spPr>
      </p:pic>
      <p:sp>
        <p:nvSpPr>
          <p:cNvPr id="49" name="Shape 3"/>
          <p:cNvSpPr/>
          <p:nvPr/>
        </p:nvSpPr>
        <p:spPr>
          <a:xfrm>
            <a:off x="548640" y="5486400"/>
            <a:ext cx="3545280" cy="86832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548640" y="5486400"/>
            <a:ext cx="72720" cy="868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Image 1" descr="preencoded.png"/>
          <p:cNvPicPr/>
          <p:nvPr/>
        </p:nvPicPr>
        <p:blipFill>
          <a:blip r:embed="rId2"/>
          <a:stretch/>
        </p:blipFill>
        <p:spPr>
          <a:xfrm>
            <a:off x="749880" y="568764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52" name="Text 5"/>
          <p:cNvSpPr/>
          <p:nvPr/>
        </p:nvSpPr>
        <p:spPr>
          <a:xfrm>
            <a:off x="1325880" y="5623560"/>
            <a:ext cx="263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ea5e9"/>
                </a:solidFill>
                <a:latin typeface="Consolas"/>
                <a:ea typeface="Consolas"/>
              </a:rPr>
              <a:t>ROUTERS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325880" y="5870520"/>
            <a:ext cx="2630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r1 + r2 enforce baseline </a:t>
            </a:r>
            <a:r>
              <a:rPr b="1" lang="en-US" sz="1100" spc="-1" strike="noStrike">
                <a:solidFill>
                  <a:srgbClr val="0a192f"/>
                </a:solidFill>
                <a:latin typeface="Consolas"/>
                <a:ea typeface="Consolas"/>
              </a:rPr>
              <a:t>nftables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 forwarding rules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4322880" y="5486400"/>
            <a:ext cx="3545280" cy="86832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4322880" y="5486400"/>
            <a:ext cx="72720" cy="868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Image 2" descr="preencoded.png"/>
          <p:cNvPicPr/>
          <p:nvPr/>
        </p:nvPicPr>
        <p:blipFill>
          <a:blip r:embed="rId3"/>
          <a:stretch/>
        </p:blipFill>
        <p:spPr>
          <a:xfrm>
            <a:off x="4524120" y="568764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57" name="Text 9"/>
          <p:cNvSpPr/>
          <p:nvPr/>
        </p:nvSpPr>
        <p:spPr>
          <a:xfrm>
            <a:off x="5100120" y="5623560"/>
            <a:ext cx="263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f59e0b"/>
                </a:solidFill>
                <a:latin typeface="Consolas"/>
                <a:ea typeface="Consolas"/>
              </a:rPr>
              <a:t>SERVERS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5100120" y="5870520"/>
            <a:ext cx="2630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HTTP, DNS, NTP, FTP — plus SSH on http / ntp / ftp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8097480" y="5486400"/>
            <a:ext cx="3545280" cy="86832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8097480" y="5486400"/>
            <a:ext cx="72720" cy="868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" name="Image 3" descr="preencoded.png"/>
          <p:cNvPicPr/>
          <p:nvPr/>
        </p:nvPicPr>
        <p:blipFill>
          <a:blip r:embed="rId4"/>
          <a:stretch/>
        </p:blipFill>
        <p:spPr>
          <a:xfrm>
            <a:off x="8298360" y="568764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62" name="Text 13"/>
          <p:cNvSpPr/>
          <p:nvPr/>
        </p:nvSpPr>
        <p:spPr>
          <a:xfrm>
            <a:off x="8874720" y="5623560"/>
            <a:ext cx="263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ef4444"/>
                </a:solidFill>
                <a:latin typeface="Consolas"/>
                <a:ea typeface="Consolas"/>
              </a:rPr>
              <a:t>ATTACKERS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8874720" y="5870520"/>
            <a:ext cx="2630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internet host (external) and ws3 (insider)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LINFO2347 — Computer System Security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1127736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2 /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48640" y="3200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64ffda"/>
                </a:solidFill>
                <a:latin typeface="Consolas"/>
                <a:ea typeface="Consolas"/>
              </a:rPr>
              <a:t>ATTACK 01 / 05  •  RECONNAISSANCE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48640" y="59436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a192f"/>
                </a:solidFill>
                <a:latin typeface="Calibri"/>
                <a:ea typeface="Calibri"/>
              </a:rPr>
              <a:t>ICMP Ping Sweep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548640" y="1143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8892b0"/>
                </a:solidFill>
                <a:latin typeface="Calibri"/>
                <a:ea typeface="Calibri"/>
              </a:rPr>
              <a:t>Discovering live hosts in the DMZ from the Internet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10545840" y="4114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70" name="Shape 3"/>
          <p:cNvSpPr/>
          <p:nvPr/>
        </p:nvSpPr>
        <p:spPr>
          <a:xfrm>
            <a:off x="548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548640" y="1691640"/>
            <a:ext cx="553176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" name="Image 1" descr="preencoded.png"/>
          <p:cNvPicPr/>
          <p:nvPr/>
        </p:nvPicPr>
        <p:blipFill>
          <a:blip r:embed="rId2"/>
          <a:stretch/>
        </p:blipFill>
        <p:spPr>
          <a:xfrm>
            <a:off x="777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73" name="Text 5"/>
          <p:cNvSpPr/>
          <p:nvPr/>
        </p:nvSpPr>
        <p:spPr>
          <a:xfrm>
            <a:off x="1234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ATTACK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1234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Probe every IP in the subnet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822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ef4444"/>
                </a:solidFill>
                <a:latin typeface="Consolas"/>
                <a:ea typeface="Consolas"/>
              </a:rPr>
              <a:t>HOW IT WORKS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822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Run from the Internet host (10.2.0.2) against the DMZ 10.12.0.0/24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Send an ICMP echo-request to each host; an echo-reply means the IP is alive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Builds a map of reachable services before launching deeper attacks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822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960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64ffda"/>
                </a:solidFill>
                <a:latin typeface="Consolas"/>
                <a:ea typeface="Consolas"/>
              </a:rPr>
              <a:t>$ COMMAND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960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from internet host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python3 attack_ICMP.py 10.12.0.0/24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[+] 10.12.0.10 is alive   (http)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[+] 10.12.0.20 is alive   (dns)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6263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6263640" y="1691640"/>
            <a:ext cx="553176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Image 2" descr="preencoded.png"/>
          <p:cNvPicPr/>
          <p:nvPr/>
        </p:nvPicPr>
        <p:blipFill>
          <a:blip r:embed="rId3"/>
          <a:stretch/>
        </p:blipFill>
        <p:spPr>
          <a:xfrm>
            <a:off x="6492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83" name="Text 14"/>
          <p:cNvSpPr/>
          <p:nvPr/>
        </p:nvSpPr>
        <p:spPr>
          <a:xfrm>
            <a:off x="6949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PROTECTION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6949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Rate-limit echo-requests on r2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6537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10b981"/>
                </a:solidFill>
                <a:latin typeface="Consolas"/>
                <a:ea typeface="Consolas"/>
              </a:rPr>
              <a:t>HOW IT DEFENDS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6537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nftables meter on r2 tracks ICMP echo-requests per source IP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Above 5 packets/second (burst 3), additional probes are dropped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Legitimate pings still work; a sweep is throttled and incomplete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6537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6675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10b981"/>
                </a:solidFill>
                <a:latin typeface="Consolas"/>
                <a:ea typeface="Consolas"/>
              </a:rPr>
              <a:t>$ RULE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6675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protect_ICMP.sh — on r2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nft add rule inet icmp_protect rate_limit_icmp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ip protocol icmp icmp type echo-request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meter rate_meter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'{ ip saddr limit rate over 5/second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burst 3 packets }' drop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LINFO2347 — Computer System Security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1127736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3 /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48640" y="3200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64ffda"/>
                </a:solidFill>
                <a:latin typeface="Consolas"/>
                <a:ea typeface="Consolas"/>
              </a:rPr>
              <a:t>ATTACK 02 / 05  •  PORT SCANNING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59436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a192f"/>
                </a:solidFill>
                <a:latin typeface="Calibri"/>
                <a:ea typeface="Calibri"/>
              </a:rPr>
              <a:t>TCP SYN Port Scan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548640" y="1143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8892b0"/>
                </a:solidFill>
                <a:latin typeface="Calibri"/>
                <a:ea typeface="Calibri"/>
              </a:rPr>
              <a:t>Identifying open services on a DMZ host without completing a handshake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0" descr="preencoded.png"/>
          <p:cNvPicPr/>
          <p:nvPr/>
        </p:nvPicPr>
        <p:blipFill>
          <a:blip r:embed="rId1"/>
          <a:stretch/>
        </p:blipFill>
        <p:spPr>
          <a:xfrm>
            <a:off x="10545840" y="4114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96" name="Shape 3"/>
          <p:cNvSpPr/>
          <p:nvPr/>
        </p:nvSpPr>
        <p:spPr>
          <a:xfrm>
            <a:off x="548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548640" y="1691640"/>
            <a:ext cx="553176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Image 1" descr="preencoded.png"/>
          <p:cNvPicPr/>
          <p:nvPr/>
        </p:nvPicPr>
        <p:blipFill>
          <a:blip r:embed="rId2"/>
          <a:stretch/>
        </p:blipFill>
        <p:spPr>
          <a:xfrm>
            <a:off x="777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99" name="Text 5"/>
          <p:cNvSpPr/>
          <p:nvPr/>
        </p:nvSpPr>
        <p:spPr>
          <a:xfrm>
            <a:off x="1234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ATTACK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1234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Half-open scan to fingerprint services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822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ef4444"/>
                </a:solidFill>
                <a:latin typeface="Consolas"/>
                <a:ea typeface="Consolas"/>
              </a:rPr>
              <a:t>HOW IT WORKS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822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Send a TCP SYN to each port; a SYN-ACK reply reveals an open 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Reset (RST) is sent immediately so the connection is never established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Stealthier than a full connect() and reveals running services (HTTP, SSH, FTP…)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822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960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64ffda"/>
                </a:solidFill>
                <a:latin typeface="Consolas"/>
                <a:ea typeface="Consolas"/>
              </a:rPr>
              <a:t>$ COMMAND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960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from internet host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python3 attack_TCP.py 10.12.0.10 1 1024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[+] Port 22/tcp OPEN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[+] Port 80/tcp OPEN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6263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6263640" y="1691640"/>
            <a:ext cx="553176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2" descr="preencoded.png"/>
          <p:cNvPicPr/>
          <p:nvPr/>
        </p:nvPicPr>
        <p:blipFill>
          <a:blip r:embed="rId3"/>
          <a:stretch/>
        </p:blipFill>
        <p:spPr>
          <a:xfrm>
            <a:off x="6492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09" name="Text 14"/>
          <p:cNvSpPr/>
          <p:nvPr/>
        </p:nvSpPr>
        <p:spPr>
          <a:xfrm>
            <a:off x="6949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PROTECTION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6949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Rate-limit new SYN packets on r2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6537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10b981"/>
                </a:solidFill>
                <a:latin typeface="Consolas"/>
                <a:ea typeface="Consolas"/>
              </a:rPr>
              <a:t>HOW IT DEFENDS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6537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nftables meter matches TCP SYN packets in conntrack state new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Above 5/second (burst 3) per source IP, further SYNs are dropped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A full-range scan becomes too slow to be useful, while normal traffic passes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6537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6675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10b981"/>
                </a:solidFill>
                <a:latin typeface="Consolas"/>
                <a:ea typeface="Consolas"/>
              </a:rPr>
              <a:t>$ RULE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0"/>
          <p:cNvSpPr/>
          <p:nvPr/>
        </p:nvSpPr>
        <p:spPr>
          <a:xfrm>
            <a:off x="6675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protect_TCP.sh — on r2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nft add rule inet tcp_protect rate_limit_tcp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ip protocol tcp tcp flags syn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ct state new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meter tcp_scan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'{ ip saddr limit rate over 5/second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burst 3 packets }' drop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LINFO2347 — Computer System Security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1127736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4 /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48640" y="3200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64ffda"/>
                </a:solidFill>
                <a:latin typeface="Consolas"/>
                <a:ea typeface="Consolas"/>
              </a:rPr>
              <a:t>ATTACK 03 / 05  •  CREDENTIAL ATTACK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48640" y="59436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a192f"/>
                </a:solidFill>
                <a:latin typeface="Calibri"/>
                <a:ea typeface="Calibri"/>
              </a:rPr>
              <a:t>SSH Brute-Force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548640" y="1143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8892b0"/>
                </a:solidFill>
                <a:latin typeface="Calibri"/>
                <a:ea typeface="Calibri"/>
              </a:rPr>
              <a:t>Guessing credentials on a DMZ SSH server using a password wordlist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1"/>
          <a:stretch/>
        </p:blipFill>
        <p:spPr>
          <a:xfrm>
            <a:off x="10545840" y="4114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22" name="Shape 3"/>
          <p:cNvSpPr/>
          <p:nvPr/>
        </p:nvSpPr>
        <p:spPr>
          <a:xfrm>
            <a:off x="548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548640" y="1691640"/>
            <a:ext cx="553176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" name="Image 1" descr="preencoded.png"/>
          <p:cNvPicPr/>
          <p:nvPr/>
        </p:nvPicPr>
        <p:blipFill>
          <a:blip r:embed="rId2"/>
          <a:stretch/>
        </p:blipFill>
        <p:spPr>
          <a:xfrm>
            <a:off x="777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25" name="Text 5"/>
          <p:cNvSpPr/>
          <p:nvPr/>
        </p:nvSpPr>
        <p:spPr>
          <a:xfrm>
            <a:off x="1234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ATTACK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1234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Password spraying with paramiko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822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ef4444"/>
                </a:solidFill>
                <a:latin typeface="Consolas"/>
                <a:ea typeface="Consolas"/>
              </a:rPr>
              <a:t>HOW IT WORKS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822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Loop through a wordlist, attempting one SSH login per password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Demo wordlist is intentionally small — real attackers use millions of entries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Detects success (auth OK), wrong password, or connection drop (firewall)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822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960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64ffda"/>
                </a:solidFill>
                <a:latin typeface="Consolas"/>
                <a:ea typeface="Consolas"/>
              </a:rPr>
              <a:t>$ COMMAND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960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from internet host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python3 attack_SSH.py 10.12.0.10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mininet wordlist.txt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[-] Attempt 9  (admin):  wrong password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[+] SUCCESS after 10 attempts: mininet:mininet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263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6263640" y="1691640"/>
            <a:ext cx="553176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4" name="Image 2" descr="preencoded.png"/>
          <p:cNvPicPr/>
          <p:nvPr/>
        </p:nvPicPr>
        <p:blipFill>
          <a:blip r:embed="rId3"/>
          <a:stretch/>
        </p:blipFill>
        <p:spPr>
          <a:xfrm>
            <a:off x="6492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35" name="Text 14"/>
          <p:cNvSpPr/>
          <p:nvPr/>
        </p:nvSpPr>
        <p:spPr>
          <a:xfrm>
            <a:off x="6949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PROTECTION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6949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Dynamic blacklist with rate meter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6"/>
          <p:cNvSpPr/>
          <p:nvPr/>
        </p:nvSpPr>
        <p:spPr>
          <a:xfrm>
            <a:off x="6537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10b981"/>
                </a:solidFill>
                <a:latin typeface="Consolas"/>
                <a:ea typeface="Consolas"/>
              </a:rPr>
              <a:t>HOW IT DEFENDS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7"/>
          <p:cNvSpPr/>
          <p:nvPr/>
        </p:nvSpPr>
        <p:spPr>
          <a:xfrm>
            <a:off x="6537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nftables dynamic set ssh_blacklist with a 5-minute timeout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More than 3 new SSH connections/minute → source IP added to the set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All further packets toward port 22 from that IP are dropped on r2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6537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6675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10b981"/>
                </a:solidFill>
                <a:latin typeface="Consolas"/>
                <a:ea typeface="Consolas"/>
              </a:rPr>
              <a:t>$ RULE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0"/>
          <p:cNvSpPr/>
          <p:nvPr/>
        </p:nvSpPr>
        <p:spPr>
          <a:xfrm>
            <a:off x="6675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protect_SSH.sh — on r2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nft add rule inet SSH_protect SSH_blacklist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tcp dport 22 ct state new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meter ssh_ratemeter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'{ ip saddr limit rate over 3/minute }'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add @ssh_blacklist '{ ip saddr }' drop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21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LINFO2347 — Computer System Security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2"/>
          <p:cNvSpPr/>
          <p:nvPr/>
        </p:nvSpPr>
        <p:spPr>
          <a:xfrm>
            <a:off x="1127736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5 /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548640" y="3200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64ffda"/>
                </a:solidFill>
                <a:latin typeface="Consolas"/>
                <a:ea typeface="Consolas"/>
              </a:rPr>
              <a:t>ATTACK 04 / 05  •  MAN-IN-THE-MIDDLE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548640" y="59436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a192f"/>
                </a:solidFill>
                <a:latin typeface="Calibri"/>
                <a:ea typeface="Calibri"/>
              </a:rPr>
              <a:t>ARP Cache Poisoning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548640" y="1143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8892b0"/>
                </a:solidFill>
                <a:latin typeface="Calibri"/>
                <a:ea typeface="Calibri"/>
              </a:rPr>
              <a:t>Insider attack from ws3 to intercept traffic between ws2 and r1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Image 0" descr="preencoded.png"/>
          <p:cNvPicPr/>
          <p:nvPr/>
        </p:nvPicPr>
        <p:blipFill>
          <a:blip r:embed="rId1"/>
          <a:stretch/>
        </p:blipFill>
        <p:spPr>
          <a:xfrm>
            <a:off x="10545840" y="4114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48" name="Shape 3"/>
          <p:cNvSpPr/>
          <p:nvPr/>
        </p:nvSpPr>
        <p:spPr>
          <a:xfrm>
            <a:off x="548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548640" y="1691640"/>
            <a:ext cx="553176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" name="Image 1" descr="preencoded.png"/>
          <p:cNvPicPr/>
          <p:nvPr/>
        </p:nvPicPr>
        <p:blipFill>
          <a:blip r:embed="rId2"/>
          <a:stretch/>
        </p:blipFill>
        <p:spPr>
          <a:xfrm>
            <a:off x="777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51" name="Text 5"/>
          <p:cNvSpPr/>
          <p:nvPr/>
        </p:nvSpPr>
        <p:spPr>
          <a:xfrm>
            <a:off x="1234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ATTACK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234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Forged ARP replies + transparent forwarding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822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ef4444"/>
                </a:solidFill>
                <a:latin typeface="Consolas"/>
                <a:ea typeface="Consolas"/>
              </a:rPr>
              <a:t>HOW IT WORKS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822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ws3 sends gratuitous ARP replies binding the victim IPs to its own MAC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Enables ip_forward and disables ICMP redirects → silent MITM relay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Victims keep working connectivity but every packet flows through ws3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822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960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64ffda"/>
                </a:solidFill>
                <a:latin typeface="Consolas"/>
                <a:ea typeface="Consolas"/>
              </a:rPr>
              <a:t>$ COMMAND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960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from ws3 (10.1.0.3)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python3 attack_ARP.py 10.1.0.2 10.1.0.1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ws3-eth0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[*] MITM configured: ip_forward=1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Sent 10 poisoned ARP replies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6263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6263640" y="1691640"/>
            <a:ext cx="553176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0" name="Image 2" descr="preencoded.png"/>
          <p:cNvPicPr/>
          <p:nvPr/>
        </p:nvPicPr>
        <p:blipFill>
          <a:blip r:embed="rId3"/>
          <a:stretch/>
        </p:blipFill>
        <p:spPr>
          <a:xfrm>
            <a:off x="6492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61" name="Text 14"/>
          <p:cNvSpPr/>
          <p:nvPr/>
        </p:nvSpPr>
        <p:spPr>
          <a:xfrm>
            <a:off x="6949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PROTECTION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6949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Static, permanent ARP entries on ws2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6537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10b981"/>
                </a:solidFill>
                <a:latin typeface="Consolas"/>
                <a:ea typeface="Consolas"/>
              </a:rPr>
              <a:t>HOW IT DEFENDS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6537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Pin 10.1.0.1 → r1's real MAC and 10.1.0.3 → ws3's real MAC as PERMANENT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Kernel ignores any incoming ARP reply that would override these entries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MACs are read directly from the Mininet topology and passed to the script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8"/>
          <p:cNvSpPr/>
          <p:nvPr/>
        </p:nvSpPr>
        <p:spPr>
          <a:xfrm>
            <a:off x="6537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6675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10b981"/>
                </a:solidFill>
                <a:latin typeface="Consolas"/>
                <a:ea typeface="Consolas"/>
              </a:rPr>
              <a:t>$ RULE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6675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protect_ARP.sh — on ws2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ip neigh flush dev ws2-eth0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ip neigh replace 10.1.0.1 lladdr $R1_MAC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dev ws2-eth0 nud permanent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ip neigh replace 10.1.0.3 lladdr $WS3_MAC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dev ws2-eth0 nud permanent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1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LINFO2347 — Computer System Security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2"/>
          <p:cNvSpPr/>
          <p:nvPr/>
        </p:nvSpPr>
        <p:spPr>
          <a:xfrm>
            <a:off x="1127736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6 /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548640" y="3200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64ffda"/>
                </a:solidFill>
                <a:latin typeface="Consolas"/>
                <a:ea typeface="Consolas"/>
              </a:rPr>
              <a:t>ATTACK 05 / 05  •  AMPLIFICATION DDoS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48640" y="59436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a192f"/>
                </a:solidFill>
                <a:latin typeface="Calibri"/>
                <a:ea typeface="Calibri"/>
              </a:rPr>
              <a:t>DNS Reflected DDoS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548640" y="1143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8892b0"/>
                </a:solidFill>
                <a:latin typeface="Calibri"/>
                <a:ea typeface="Calibri"/>
              </a:rPr>
              <a:t>Abusing the DMZ DNS resolver as an amplifier to flood a victim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10545840" y="4114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74" name="Shape 3"/>
          <p:cNvSpPr/>
          <p:nvPr/>
        </p:nvSpPr>
        <p:spPr>
          <a:xfrm>
            <a:off x="548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548640" y="1691640"/>
            <a:ext cx="553176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777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77" name="Text 5"/>
          <p:cNvSpPr/>
          <p:nvPr/>
        </p:nvSpPr>
        <p:spPr>
          <a:xfrm>
            <a:off x="1234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ef4444"/>
                </a:solidFill>
                <a:latin typeface="Consolas"/>
                <a:ea typeface="Consolas"/>
              </a:rPr>
              <a:t>ATTACK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1234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Spoofed queries with amplification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822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ef4444"/>
                </a:solidFill>
                <a:latin typeface="Consolas"/>
                <a:ea typeface="Consolas"/>
              </a:rPr>
              <a:t>HOW IT WORKS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822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Send DNS queries with a spoofed source IP (the victim's address)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We assume that ws3 is a compromised machine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Replies return to the victim, not the attacker — bandwidth amplified ×1.6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822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960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64ffda"/>
                </a:solidFill>
                <a:latin typeface="Consolas"/>
                <a:ea typeface="Consolas"/>
              </a:rPr>
              <a:t>$ COMMAND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960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from ws3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python3 attack_DNS_DDoS.py 10.1.0.2 10.12.0.20 1000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[*] 10000 spoofed queries sent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[*] victim flooded with amplified replies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2"/>
          <p:cNvSpPr/>
          <p:nvPr/>
        </p:nvSpPr>
        <p:spPr>
          <a:xfrm>
            <a:off x="6263640" y="1691640"/>
            <a:ext cx="5531760" cy="4571640"/>
          </a:xfrm>
          <a:prstGeom prst="rect">
            <a:avLst/>
          </a:prstGeom>
          <a:solidFill>
            <a:srgbClr val="ffffff"/>
          </a:solidFill>
          <a:ln w="6350">
            <a:solidFill>
              <a:srgbClr val="23355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3"/>
          <p:cNvSpPr/>
          <p:nvPr/>
        </p:nvSpPr>
        <p:spPr>
          <a:xfrm>
            <a:off x="6263640" y="1691640"/>
            <a:ext cx="553176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6" name="Image 2" descr="preencoded.png"/>
          <p:cNvPicPr/>
          <p:nvPr/>
        </p:nvPicPr>
        <p:blipFill>
          <a:blip r:embed="rId3"/>
          <a:stretch/>
        </p:blipFill>
        <p:spPr>
          <a:xfrm>
            <a:off x="6492240" y="19202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87" name="Text 14"/>
          <p:cNvSpPr/>
          <p:nvPr/>
        </p:nvSpPr>
        <p:spPr>
          <a:xfrm>
            <a:off x="6949440" y="189288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▶ </a:t>
            </a:r>
            <a:r>
              <a:rPr b="1" lang="en-US" sz="1000" spc="299" strike="noStrike">
                <a:solidFill>
                  <a:srgbClr val="10b981"/>
                </a:solidFill>
                <a:latin typeface="Consolas"/>
                <a:ea typeface="Consolas"/>
              </a:rPr>
              <a:t>PROTECTION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6949440" y="21031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Restrict &amp; rate-limit the resolver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6537960" y="2560320"/>
            <a:ext cx="498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10b981"/>
                </a:solidFill>
                <a:latin typeface="Consolas"/>
                <a:ea typeface="Consolas"/>
              </a:rPr>
              <a:t>HOW IT DEFENDS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6537960" y="2834640"/>
            <a:ext cx="4983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Disable recursion / restrict it to the workstation LAN in dnsmasq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nftables meter on r2 caps DNS queries (port 5353) per source IP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OpenSymbol"/>
              <a:buChar char="■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BCP 38: drop spoofed packets that don't match the expected source subnet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8"/>
          <p:cNvSpPr/>
          <p:nvPr/>
        </p:nvSpPr>
        <p:spPr>
          <a:xfrm>
            <a:off x="6537960" y="4480560"/>
            <a:ext cx="498312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19"/>
          <p:cNvSpPr/>
          <p:nvPr/>
        </p:nvSpPr>
        <p:spPr>
          <a:xfrm>
            <a:off x="6675120" y="45262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10b981"/>
                </a:solidFill>
                <a:latin typeface="Consolas"/>
                <a:ea typeface="Consolas"/>
              </a:rPr>
              <a:t>$ RULE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6675120" y="475488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protect_DNS.sh — on r2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nft add rule inet dns_protect rate_limit_dns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udp dport 5353 ct state new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meter dns_flood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'{ ip saddr limit rate over 10/second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burst 5 packets }' drop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nsolas"/>
                <a:ea typeface="Consolas"/>
              </a:rPr>
              <a:t># + dnsmasq: no-recursion / local-only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LINFO2347 — Computer System Security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2"/>
          <p:cNvSpPr/>
          <p:nvPr/>
        </p:nvSpPr>
        <p:spPr>
          <a:xfrm>
            <a:off x="1127736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0"/>
                </a:solidFill>
                <a:latin typeface="Calibri"/>
                <a:ea typeface="Calibri"/>
              </a:rPr>
              <a:t>7 /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2026-05-06T09:07:58Z</dcterms:created>
  <dc:creator>LINFO2347 Project</dc:creator>
  <dc:description/>
  <dc:language>en-US</dc:language>
  <cp:lastModifiedBy/>
  <dcterms:modified xsi:type="dcterms:W3CDTF">2026-05-06T15:15:47Z</dcterms:modified>
  <cp:revision>2</cp:revision>
  <dc:subject>PptxGenJS Presentation</dc:subject>
  <dc:title>LINFO2347 - Network Attacks &amp; Protections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